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61520" cy="1737360"/>
          </a:xfrm>
          <a:prstGeom prst="rect">
            <a:avLst/>
          </a:prstGeom>
          <a:solidFill>
            <a:srgbClr val="02001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KANAL FEEDBACK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Temuan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A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sebenarnya disampaikan warga sekolah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Juni – 18 Agustus 2026  ·  48 laporan  ·  38 pokok berbeda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laporan masuk, 38 di antaranya pokok yang berbeda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45336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09397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masuk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46704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9584" y="1545336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9584" y="209397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Pokok berbeda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545336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09397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apresiasi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06256" y="1417320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154533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89136" y="20939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tuntas</a:t>
            </a:r>
            <a:endParaRPr lang="en-US" sz="1100" dirty="0"/>
          </a:p>
        </p:txBody>
      </p:sp>
      <p:pic>
        <p:nvPicPr>
          <p:cNvPr id="16" name="Image 0" descr="/sessions/kind-quirky-pasteur/mnt/outputs/laporan/n1-jal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8920"/>
            <a:ext cx="5303520" cy="3127248"/>
          </a:xfrm>
          <a:prstGeom prst="rect">
            <a:avLst/>
          </a:prstGeom>
        </p:spPr>
      </p:pic>
      <p:pic>
        <p:nvPicPr>
          <p:cNvPr id="17" name="Image 1" descr="/sessions/kind-quirky-pasteur/mnt/outputs/laporan/n5-bu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108960"/>
            <a:ext cx="5193792" cy="2596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" y="26517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 jalur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263640" y="26517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per bulan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 Agustus bukan karena masalah bertambah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Melainkan karena kanalnya baru terbuka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EEEBFC"/>
          </a:solidFill>
          <a:ln w="12700">
            <a:solidFill>
              <a:srgbClr val="B9A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642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30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dari 48 laporan masuk pada Agustus, bulan formulir publik dibuka dan diumumkan lewat email.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30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dan Juli hanya menghasilkan 8 laporan, seluruhnya dari warga sekolah yang sudah punya akun.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044952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44368"/>
            <a:ext cx="1080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sebelumnya tidak hilang, hanya tidak tercatat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3209544"/>
            <a:ext cx="1080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laporan menyebut persoalannya berlangsung "sejak hari pertama" dan "sudah sebulan". Yang berubah adalah tersedianya tempat untuk menyampaikannya.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4014216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913632"/>
            <a:ext cx="1080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Mayoritas laporan kini datang dari formulir publik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6384" y="4178808"/>
            <a:ext cx="1080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dari 48 dikirim tanpa akun, sebagian besar oleh siswa. Tanpa jalur itu, suara mereka tidak akan masuk sama sekali ke dalam catatan sekolah.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983480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882896"/>
            <a:ext cx="1080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dua bulan ini belum bisa jadi tolok ukur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86384" y="5148072"/>
            <a:ext cx="1080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tercampur masa perkenalan kanal. Ukuran yang dapat dipercaya baru muncul setelah satu bulan penuh dengan kanal yang sudah menjadi kebiasaan.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sebenarnya dikeluhkan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Dikelompokkan menurut isi laporan, bukan kategori yang dipilih pelapor</a:t>
            </a:r>
            <a:endParaRPr lang="en-US" sz="1350" dirty="0"/>
          </a:p>
        </p:txBody>
      </p:sp>
      <p:pic>
        <p:nvPicPr>
          <p:cNvPr id="4" name="Image 0" descr="/sessions/kind-quirky-pasteur/mnt/outputs/laporan/n2-t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3093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673352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6" name="Text 3"/>
          <p:cNvSpPr/>
          <p:nvPr/>
        </p:nvSpPr>
        <p:spPr>
          <a:xfrm>
            <a:off x="7260336" y="1572768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laporan bisa masuk beberapa tema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260336" y="1837944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 jumlahnya melebihi 48. Angka ini menunjukkan seberapa sering suatu hal disinggung, bukan berapa tiketnya.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40880" y="2642616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9" name="Text 6"/>
          <p:cNvSpPr/>
          <p:nvPr/>
        </p:nvSpPr>
        <p:spPr>
          <a:xfrm>
            <a:off x="7260336" y="254203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tema besar saling terkait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260336" y="280720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Pembinaan, waktu belajar, kondisi asrama, dan internet muncul berulang dalam satu laporan yang sama — semuanya bermuara pada hari yang terasa terlalu padat.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4892040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FFF8EF"/>
          </a:solidFill>
          <a:ln w="12700">
            <a:solidFill>
              <a:srgbClr val="FFC3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5074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terbesar bukan fasilitas, melainkan cara siswa dibina dan didisiplinkan.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Pembinaan dan kedisiplinan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menolak aturan, melainkan mempersoalkan cara dan ukurannya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"Kami tetap dikategorikan sebagai terlambat dan diberikan hukuman berupa push-up sebanyak 20 kali … mentor juga menyampaikan kalimat yang menurut saya tidak pantas."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KY-2026-0011 · Kanal Yayasan · anonim · 17 Agustus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"Kami diberitahu bahwa kami telah terjerat misconduct … Sedangkan, ada murid yang diberi kesempatan untuk memperbaiki pekerjaannya. Menurut kami ini sangat tidak adil."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AGKB-2026-0030 · Akademik · 15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41148" cy="804672"/>
          </a:xfrm>
          <a:prstGeom prst="rect">
            <a:avLst/>
          </a:prstGeom>
          <a:solidFill>
            <a:srgbClr val="220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3840480"/>
            <a:ext cx="10986516" cy="804672"/>
          </a:xfrm>
          <a:prstGeom prst="rect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"Beberapa siswa dari House yang menang melakukan ejekan terhadap House yang kalah."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279392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AGKB-2026-0032 · Kesiswaan &amp; Kedisiplinan · 16 Agustus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837176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9262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Benang merahnya: sanksi dianggap tidak seragam antar kelompok mentor dan tidak didahului peringatan. Yang diminta bukan penghapusan aturan, melainkan kejelasan dan kesetaraan penerapannya.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Waktu belajar yang terus terpotong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baru yang belum muncul pada laporan bulan sebelumnya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"Residential mengadakan apel malam tiap hari … waktu tidur jam 10 malam, sedangkan apel dilaksanakan jam 9.30. Secara instan, itu akan memotong waktu belajar murid-murid."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Dilaporkan 4 kali · Kesiswaan &amp; Kedisiplinan · 17–18 Agustus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"Olahraga pagi 05.00–05.50, pukul 06.10 sudah harus di sekolah, sekolah sampai 15.10, lalu marching band 15.45–17.45. Praktis tidak ada waktu mengerjakan tugas."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KY-2026-0009 · Kehidupan Asrama · anonim · 15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41148" cy="1042416"/>
          </a:xfrm>
          <a:prstGeom prst="rect">
            <a:avLst/>
          </a:prstGeom>
          <a:solidFill>
            <a:srgbClr val="220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3840480"/>
            <a:ext cx="10986516" cy="1042416"/>
          </a:xfrm>
          <a:prstGeom prst="rect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"Beban kurikulum seperti Internal Assessment, Extended Essay, dan CAS menuntut waktu pendalaman yang tidak bisa dipenuhi hanya dari jam pelajaran siang."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AGKB-2026-0031 · siswa kelas 11 IBDP · 15 Agustus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FF8EF"/>
          </a:solidFill>
          <a:ln w="12700">
            <a:solidFill>
              <a:srgbClr val="FFC3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30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kebijakan yang masing-masing wajar — olahraga pagi, apel malam, kegiatan sore — bertemu pada satu hari yang sama dan menyisakan sedikit sekali waktu belajar mandiri.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Layanan dan kondisi asrama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klinik, konsumsi, air, sampai kebutuhan dasar sehari-hari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"Saya malah disambut dengan pertanyaan tajam dan nada menyalahkan … bagaimana mungkin siswa mau terbuka mengenai kesehatannya jika tenaga medisnya sendiri bersikap antipati?"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KY-2026-0008 · Kanal Yayasan · anonim · 13 Agustus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"Aliran air di wastafel maupun toilet sangat kecil … bukan kejadian sekali dua kali, melainkan hampir selalu terjadi."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AGKB-2026-0028 · Sarana &amp; Fasilitas · 14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41148" cy="1042416"/>
          </a:xfrm>
          <a:prstGeom prst="rect">
            <a:avLst/>
          </a:prstGeom>
          <a:solidFill>
            <a:srgbClr val="220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3840480"/>
            <a:ext cx="10986516" cy="1042416"/>
          </a:xfrm>
          <a:prstGeom prst="rect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"Tidak ada kejelasan siapa yang bertanggung jawab atas ketersediaan air minum untuk para guru … guru menemui orang yayasan dan OB, mereka bingung dan berkata "kami tidak tahu"."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AGKB-2026-0006 · guru · 17 Juli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30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bukan keluhan tentang barang yang belum ada, melainkan tentang tidak jelasnya siapa yang bertanggung jawab ketika sesuatu tidak berjalan.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· Konektivitas internet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tertua yang sekarang mulai berubah nada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75520" y="36576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0" y="5029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laporan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"Sudah sebulan di KTB wifi di dorm masih buruk di banyak tempat, katanya akan diperbaiki tapi seperti tidak ada perubahan."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AGKB-2026-0034 · 17 Agustus — laporan terbaru dari rangkaian ini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"Kamar saya B203 tidak mendapatkan sinyal sama sekali dari hari pertama … sinyal wifi hanya bekerja di Pantry dan Library yang terbuka, di mana itu mengganggu privasi kami."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AGKB-2026-0011 · Sarana &amp; Fasilitas · 12 Agustus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840480"/>
            <a:ext cx="41148" cy="1042416"/>
          </a:xfrm>
          <a:prstGeom prst="rect">
            <a:avLst/>
          </a:prstGeom>
          <a:solidFill>
            <a:srgbClr val="220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" y="3840480"/>
            <a:ext cx="10986516" cy="1042416"/>
          </a:xfrm>
          <a:prstGeom prst="rect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6849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"Para guru pun merasakannya; saat mau menghubungkan laptop dengan smartboard yang membutuhkan sinyal, akhirnya tidak digunakan karena sinyal tidak ada."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AGKB-2026-0016 · dampak pada kegiatan mengajar · 12 Agustus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27664" cy="914400"/>
          </a:xfrm>
          <a:prstGeom prst="roundRect">
            <a:avLst>
              <a:gd name="adj" fmla="val 9000"/>
            </a:avLst>
          </a:prstGeom>
          <a:solidFill>
            <a:srgbClr val="FDECEB"/>
          </a:solidFill>
          <a:ln w="12700">
            <a:solidFill>
              <a:srgbClr val="F3B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30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perubahan nadanya. Laporan 12 Agustus masih menjelaskan masalah; laporan 17 Agustus sudah mempersoalkan janji perbaikan yang belum terlihat hasilnya.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Suara guru dan staf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sedikit jumlahnya, tetapi menyentuh cara yayasan dan sekolah bekerja sama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41148" cy="1042416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5" name="Shape 3"/>
          <p:cNvSpPr/>
          <p:nvPr/>
        </p:nvSpPr>
        <p:spPr>
          <a:xfrm>
            <a:off x="608076" y="1463040"/>
            <a:ext cx="10986516" cy="1042416"/>
          </a:xfrm>
          <a:prstGeom prst="rect">
            <a:avLst/>
          </a:prstGeom>
          <a:solidFill>
            <a:srgbClr val="FFF8E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9105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"Sungguh tidak elok jika beberapa hal dilakukan ketika sudah mepet dengan tenggat waktu, sehingga pada masa liburan guru-guru dikejar untuk mengerjakan ini itu."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AGKB-2026-0001 · guru · 19 Juni — laporan pertama yang masuk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651760"/>
            <a:ext cx="41148" cy="10424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" y="2651760"/>
            <a:ext cx="10986516" cy="1042416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79776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"Hal receh namun sensitif itu tidak akan terjadi jika yayasan mau mendengarkan masukan dari kepala sekolah dan koordinator yang telah berdekade bekerja di pendidikan internasional."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328416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AGKB-2026-0001 · lanjutan · 19 Juni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005072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904488"/>
            <a:ext cx="1080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Pokoknya bukan beban kerja, melainkan urutan pengambilan keputusan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4169664"/>
            <a:ext cx="1080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muncul ketika keputusan sampai ke sekolah dalam keadaan sudah jadi dan mendesak, bukan ketika pekerjaannya banyak.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974336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873752"/>
            <a:ext cx="1080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laporan guru konstruktif dan menawarkan jalan keluar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5138928"/>
            <a:ext cx="1080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laporan guru sama-sama diakhiri dengan usulan konkret, bukan sekadar keberatan. Ini modal yang layak dijaga.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berjalan baik juga tercatat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laporan masuk melalui jalur apresiasi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41148" cy="1280160"/>
          </a:xfrm>
          <a:prstGeom prst="rect">
            <a:avLst/>
          </a:prstGeom>
          <a:solidFill>
            <a:srgbClr val="027A48"/>
          </a:solidFill>
          <a:ln/>
        </p:spPr>
      </p:sp>
      <p:sp>
        <p:nvSpPr>
          <p:cNvPr id="5" name="Shape 3"/>
          <p:cNvSpPr/>
          <p:nvPr/>
        </p:nvSpPr>
        <p:spPr>
          <a:xfrm>
            <a:off x="608076" y="1463040"/>
            <a:ext cx="10986516" cy="1280160"/>
          </a:xfrm>
          <a:prstGeom prst="rect">
            <a:avLst/>
          </a:prstGeom>
          <a:solidFill>
            <a:srgbClr val="E7F6E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91056"/>
            <a:ext cx="10570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"Setengah tahun lalu saya memberi masukan agar tim finance dapat memberikan slip gaji karyawan tiap bulan. Hal ini akhirnya sudah diwujudnyatakan … Terima kasih sudah mendengarkan saran kecil ini."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AGKB-2026-0029 · Apresiasi Umum · 14 Agustus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889504"/>
            <a:ext cx="41148" cy="1042416"/>
          </a:xfrm>
          <a:prstGeom prst="rect">
            <a:avLst/>
          </a:prstGeom>
          <a:solidFill>
            <a:srgbClr val="027A48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" y="2889504"/>
            <a:ext cx="10986516" cy="1042416"/>
          </a:xfrm>
          <a:prstGeom prst="rect">
            <a:avLst/>
          </a:prstGeom>
          <a:solidFill>
            <a:srgbClr val="E7F6E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"Saya senang saat menuju kamar mandi tidak harus takut ada yang meneriakkan untuk masuk kelas."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AGKB-2026-0025 · Apresiasi Umum · 13 Agustus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169664"/>
            <a:ext cx="11027664" cy="1691640"/>
          </a:xfrm>
          <a:prstGeom prst="roundRect">
            <a:avLst>
              <a:gd name="adj" fmla="val 4865"/>
            </a:avLst>
          </a:prstGeom>
          <a:solidFill>
            <a:srgbClr val="E7F6EF"/>
          </a:solidFill>
          <a:ln w="12700">
            <a:solidFill>
              <a:srgbClr val="9BD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525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pertama adalah bukti paling berharga dalam periode ini.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73659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1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Seorang karyawan menyampaikan masukan, masukan itu dikerjakan, lalu ia kembali untuk mengatakannya. Itulah bentuk lingkaran umpan balik yang tertutup — dan itulah yang membuat orang mau melapor lagi. Sembilan laporan apresiasi ini semuanya belum ditanggapi satu pun.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menyampaikan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tanpa akun kini menjadi pintu masuk utama</a:t>
            </a:r>
            <a:endParaRPr lang="en-US" sz="1350" dirty="0"/>
          </a:p>
        </p:txBody>
      </p:sp>
      <p:pic>
        <p:nvPicPr>
          <p:cNvPr id="4" name="Image 0" descr="/sessions/kind-quirky-pasteur/mnt/outputs/laporan/n4-a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6309360" cy="2761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673352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6" name="Text 3"/>
          <p:cNvSpPr/>
          <p:nvPr/>
        </p:nvSpPr>
        <p:spPr>
          <a:xfrm>
            <a:off x="7443216" y="157276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publik menjadi mayoritas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43216" y="1837944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dari 48 laporan datang tanpa akun. Membuka jalur ini terbukti menjangkau kelompok yang sebelumnya tidak terdengar.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23760" y="2642616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9" name="Text 6"/>
          <p:cNvSpPr/>
          <p:nvPr/>
        </p:nvSpPr>
        <p:spPr>
          <a:xfrm>
            <a:off x="7443216" y="254203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anonim naik jadi 7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43216" y="2807208"/>
            <a:ext cx="4261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 masuk lewat Kanal Yayasan dan berisi hal yang paling sensitif: sikap mentor, layanan klinik, dan kelelahan siswa.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46634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EEEBFC"/>
          </a:solidFill>
          <a:ln w="12700">
            <a:solidFill>
              <a:srgbClr val="B9AE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030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Naiknya laporan anonim bukan tanda memburuknya keadaan. Itu tanda orang mulai percaya bahwa menyampaikan hal sulit tidak akan merugikan dirinya — asalkan kepercayaan itu dijawab dengan tindakan.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yang paling sering muncul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Diambil dari seluruh isi laporan, kata umum dibuang</a:t>
            </a:r>
            <a:endParaRPr lang="en-US" sz="1350" dirty="0"/>
          </a:p>
        </p:txBody>
      </p:sp>
      <p:pic>
        <p:nvPicPr>
          <p:cNvPr id="4" name="Image 0" descr="/sessions/kind-quirky-pasteur/mnt/outputs/laporan/n6-awank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7772400" cy="4370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463040"/>
            <a:ext cx="3017520" cy="4370832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2396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sering muncul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23960" y="2057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61320" y="20574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9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823960" y="25328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561320" y="2532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9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823960" y="3008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561320" y="3008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9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823960" y="34838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0561320" y="34838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9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823960" y="39593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pukul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0561320" y="39593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9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823960" y="4434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malam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0561320" y="4434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9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823960" y="49103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561320" y="49103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9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823960" y="5385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kamar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0561320" y="53858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9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operasional yang paling mendesak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sekolah berjalan; jalur yayasan belum tersentuh sama sekali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E7F6EF"/>
          </a:solidFill>
          <a:ln w="12700">
            <a:solidFill>
              <a:srgbClr val="9BD9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Kendala / Masukan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laporan · semua sudah punya penanggung jawab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5,7 jam sampai balasan pertama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 Yunanto memegang 12 tiket, Arif 6, Qaedi 5.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30952" cy="1965960"/>
          </a:xfrm>
          <a:prstGeom prst="roundRect">
            <a:avLst>
              <a:gd name="adj" fmla="val 4186"/>
            </a:avLst>
          </a:prstGeom>
          <a:solidFill>
            <a:srgbClr val="FDECEB"/>
          </a:solidFill>
          <a:ln w="12700">
            <a:solidFill>
              <a:srgbClr val="F3B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Kanal Yayasan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laporan · seluruhnya berprioritas P1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2677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dari 10 punya penanggung jawab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satu pun sudah dibalas sejak 11 Agustus.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685032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584448"/>
            <a:ext cx="1080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Justru di jalur itulah laporan paling berat berada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849624"/>
            <a:ext cx="1080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Sikap mentor saat pembinaan, layanan klinik, dan seorang siswa yang menulis bahwa dirinya sakit, kelelahan, dan pekerjaannya menumpuk. Ketiganya masih berstatus "Baru".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654296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553712"/>
            <a:ext cx="10808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Penyebabnya bukan sistem, melainkan keanggotaan unit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4818888"/>
            <a:ext cx="1080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Yayasan hanya dapat dilihat oleh anggota unit "Kanal Yayasan". Selama unit itu belum diisi dan pengurusnya belum aktif login, laporan akan terus menumpuk tanpa terbaca.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Keadaan penanganan secara keseluruhan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18 Agustus 2026</a:t>
            </a:r>
            <a:endParaRPr lang="en-US" sz="1350" dirty="0"/>
          </a:p>
        </p:txBody>
      </p:sp>
      <p:pic>
        <p:nvPicPr>
          <p:cNvPr id="4" name="Image 0" descr="/sessions/kind-quirky-pasteur/mnt/outputs/laporan/n3-penanga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5394960" cy="2980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69164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18196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583680" y="23682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dibalas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098280" y="1691640"/>
            <a:ext cx="24963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81160" y="1819656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281160" y="236829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pemilik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3136392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2" name="Text 9"/>
          <p:cNvSpPr/>
          <p:nvPr/>
        </p:nvSpPr>
        <p:spPr>
          <a:xfrm>
            <a:off x="6620256" y="30358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tiket belum menjadi kebiasaan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20256" y="330098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1 tiket yang benar-benar ditutup. Selama status tidak diperbarui, pelapor tidak menerima kabar apa pun dan menyimpulkan laporannya diabaikan.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4105656"/>
            <a:ext cx="91440" cy="91440"/>
          </a:xfrm>
          <a:prstGeom prst="ellipse">
            <a:avLst/>
          </a:prstGeom>
          <a:solidFill>
            <a:srgbClr val="FF9101"/>
          </a:solidFill>
          <a:ln/>
        </p:spPr>
      </p:sp>
      <p:sp>
        <p:nvSpPr>
          <p:cNvPr id="15" name="Text 12"/>
          <p:cNvSpPr/>
          <p:nvPr/>
        </p:nvSpPr>
        <p:spPr>
          <a:xfrm>
            <a:off x="6620256" y="400507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 menumpuk pada sedikit orang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620256" y="4270248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penanggung jawab memegang 23 dari 29 tiket jalur sekolah.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yang terbaca dari seluruh laporan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hal yang berulang lintas tema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FFF8EF"/>
          </a:solidFill>
          <a:ln w="12700">
            <a:solidFill>
              <a:srgbClr val="FFC3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C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dipersoalkan adalah kejelasan, bukan kekurangan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3200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minum, sanksi, jadwal, laundry — hampir semua laporan berhenti pada pertanyaan yang sama: siapa yang memutuskan ini dan kepada siapa saya bertanya. Kekurangan barang jauh lebih jarang disebut daripada ketidakjelasan tanggung jawab.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50876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FDECEB"/>
          </a:solidFill>
          <a:ln w="12700">
            <a:solidFill>
              <a:srgbClr val="F3B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90288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berubah ketika laporan tidak dijawab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90288" y="3200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wifi 12 Agustus masih menjelaskan keadaan dengan sabar. Laporan 17 Agustus sudah menyinggung janji yang belum terbukti. Diamnya sebuah kanal mengubah masukan menjadi keluhan, dan keluhan menjadi ketidakpercayaan.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508760"/>
            <a:ext cx="3529584" cy="4114800"/>
          </a:xfrm>
          <a:prstGeom prst="roundRect">
            <a:avLst>
              <a:gd name="adj" fmla="val 2332"/>
            </a:avLst>
          </a:prstGeom>
          <a:solidFill>
            <a:srgbClr val="EEEBFC"/>
          </a:solidFill>
          <a:ln w="12700">
            <a:solidFill>
              <a:srgbClr val="B9AE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9A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39328" y="237744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 melapor dengan bahasa yang tertata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39328" y="3200400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laporan siswa menyebut waktu, tempat, dan usulan perbaikan. Beberapa bahkan membuka dengan ucapan terima kasih. Ini bukan gelombang protes, melainkan kesediaan berdialog yang perlu dijawab setara.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Diurutkan menurut kemendesakan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DECEB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7218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B423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Segera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keanggotaan unit Kanal Yayasan dan aktifkan akun pengurusnya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Sepuluh laporan P1 menunggu tanpa pembaca. Ini satu-satunya tindakan yang tidak bisa ditunda.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020824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FDECEB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9456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B4231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3113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Segera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09397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Tangani KY-2026-0010 dan KY-2026-0011 lebih dulu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28800" y="23682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ditulis siswa yang menyatakan dirinya sakit dan kelelahan; satu lagi berisi pengaduan atas sikap saat pembinaan. Keduanya perlu ditemui, bukan sekadar dibalas.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944368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FFF8EF"/>
          </a:solidFill>
          <a:ln w="12700">
            <a:solidFill>
              <a:srgbClr val="FF910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18104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910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Pekan ini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3017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Berikan kabar tertulis pada seluruh laporan wifi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belas laporan menunggu kabar. Cukup sampaikan apa yang sedang dikerjakan dan kapan diperiksa ulang, meskipun perbaikannya belum selesai.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67912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FFF8EF"/>
          </a:solidFill>
          <a:ln w="12700">
            <a:solidFill>
              <a:srgbClr val="FF910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0416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F910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7822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ini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39410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 ulang susunan hari siswa secara menyeluruh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828800" y="42153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Olahraga pagi, apel malam, dan kegiatan sore dinilai terpisah-pisah. Perlu dilihat sebagai satu rangkaian bersama beban IBDP kelas 11.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791456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EEEBFC"/>
          </a:solidFill>
          <a:ln w="12700">
            <a:solidFill>
              <a:srgbClr val="220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651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2201B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001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ini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0" y="4864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pedoman sanksi antar kelompok mentor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828800" y="51389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berulang menyebut hukuman yang berbeda untuk pelanggaran serupa dan sanksi tanpa peringatan lebih dulu.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513832"/>
            <a:ext cx="11027664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68756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4013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7241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28800" y="55869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Jadikan penutupan tiket sebagai kewajiban, bukan pilihan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828800" y="58613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dari 48 tiket yang ditutup membuat kanal ini tampak tidak berujung. Tutup dengan keterangan, meskipun jawabannya adalah penolakan.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· Seluruh laporan yang masuk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pokok berbeda dari 48 laporan; kiriman ganda disatukan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06040" y="13716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34840" y="137160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POKOK LAPORAN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682496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7099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673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Lain-lain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34840" y="1664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HARGAI HARI LIBUR GURU, KERJAKAN HAL LAIN SEBELUM LIBURAN BUKAN SAAT LIBURAN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122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121408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214884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21122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Lain-lain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3484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478024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551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2560320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25877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25511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Lain-lain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2542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OSN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29900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2999232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7F6EF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0266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2990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Umum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34840" y="29809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Rahmat Darani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355848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429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71600" y="3438144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7F6EF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346557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06040" y="34290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Umum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34840" y="34198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AKGB 360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71600" y="3877056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39044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06040" y="38679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Lain-lain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3858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bertanggung jawab atas Air Minum dan MBG di sini?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4233672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43068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71600" y="4315968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7F6EF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43434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06040" y="43068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Umum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3484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47457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371600" y="4754880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49" name="Text 47"/>
          <p:cNvSpPr/>
          <p:nvPr/>
        </p:nvSpPr>
        <p:spPr>
          <a:xfrm>
            <a:off x="1371600" y="47823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606040" y="4745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Lain-lain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434840" y="4736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02920" y="5111496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66928" y="5184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371600" y="5193792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FDECEB"/>
          </a:solidFill>
          <a:ln/>
        </p:spPr>
      </p:sp>
      <p:sp>
        <p:nvSpPr>
          <p:cNvPr id="55" name="Text 53"/>
          <p:cNvSpPr/>
          <p:nvPr/>
        </p:nvSpPr>
        <p:spPr>
          <a:xfrm>
            <a:off x="1371600" y="522122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Yayasan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06040" y="5184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434840" y="51755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Internet di sekolah yang kurang memadai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6928" y="5623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371600" y="5632704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FDECEB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0" y="56601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Yayasan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606040" y="5623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Kebhayangkaraan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434840" y="56144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olahraga pagi yang tidak sesuai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1064240" y="563270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FF8EF"/>
          </a:solidFill>
          <a:ln/>
        </p:spPr>
      </p:sp>
      <p:sp>
        <p:nvSpPr>
          <p:cNvPr id="64" name="Text 62"/>
          <p:cNvSpPr/>
          <p:nvPr/>
        </p:nvSpPr>
        <p:spPr>
          <a:xfrm>
            <a:off x="11064240" y="5660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66928" y="6035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2× / 3× / 4× menunjukkan laporan yang dikirim berkali-kali dengan isi sama.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· lanjutan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2 dari 4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06040" y="13716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34840" y="137160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POKOK LAPORAN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682496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7099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673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&amp; Competition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34840" y="1664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perihal persiapan dan pelaksanaan OSN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122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121408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214884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21122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3484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Internet di Dormitory 4 Tidak Baik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478024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551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2560320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25877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25511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2542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Wifi Dorm(Kamar)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29900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2999232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0266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2990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34840" y="29809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Dormitory Wi-Fi Complaint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355848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429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71600" y="3438144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346557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06040" y="34290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34840" y="34198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WiFi atau internet yang tidak memadahi sarana pembelajaran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71600" y="3877056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39044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06040" y="38679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3858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dalam dorm tidak bisa digunakan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4233672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43068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71600" y="4315968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43434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06040" y="43068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3484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yang lemot.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47457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371600" y="4754880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49" name="Text 47"/>
          <p:cNvSpPr/>
          <p:nvPr/>
        </p:nvSpPr>
        <p:spPr>
          <a:xfrm>
            <a:off x="1371600" y="47823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606040" y="4745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434840" y="4736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Wifi yang lamban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02920" y="5111496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66928" y="5184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371600" y="5193792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55" name="Text 53"/>
          <p:cNvSpPr/>
          <p:nvPr/>
        </p:nvSpPr>
        <p:spPr>
          <a:xfrm>
            <a:off x="1371600" y="522122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06040" y="5184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434840" y="51755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Penyampaian atensi terkadang tidak bisa terdengar sehingga terjadi misinformasi (kesalahpa…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1064240" y="5193792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FF8EF"/>
          </a:solidFill>
          <a:ln/>
        </p:spPr>
      </p:sp>
      <p:sp>
        <p:nvSpPr>
          <p:cNvPr id="59" name="Text 57"/>
          <p:cNvSpPr/>
          <p:nvPr/>
        </p:nvSpPr>
        <p:spPr>
          <a:xfrm>
            <a:off x="11064240" y="52212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6928" y="5623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71600" y="5632704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62" name="Text 60"/>
          <p:cNvSpPr/>
          <p:nvPr/>
        </p:nvSpPr>
        <p:spPr>
          <a:xfrm>
            <a:off x="1371600" y="56601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606040" y="5623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434840" y="56144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internet dalam dormitory masih bermasalah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· lanjutan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3 dari 4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06040" y="13716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34840" y="137160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POKOK LAPORAN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682496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7099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673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34840" y="1664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Ketidaklancaran Wifi Dormitory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122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121408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FDECE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214884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Yayasan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21122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34840" y="21031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dan wi-fi dalam dorm KTB tidak dapat bekerja dan mengganggu efektifitas belajar man…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064240" y="2121408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FF8EF"/>
          </a:solidFill>
          <a:ln/>
        </p:spPr>
      </p:sp>
      <p:sp>
        <p:nvSpPr>
          <p:cNvPr id="20" name="Text 18"/>
          <p:cNvSpPr/>
          <p:nvPr/>
        </p:nvSpPr>
        <p:spPr>
          <a:xfrm>
            <a:off x="11064240" y="21488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478024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551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2560320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7F6EF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25877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06040" y="25511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Guru / Staf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34840" y="25420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Guru &amp; Staf KTB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064240" y="2560320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FF8EF"/>
          </a:solidFill>
          <a:ln/>
        </p:spPr>
      </p:sp>
      <p:sp>
        <p:nvSpPr>
          <p:cNvPr id="28" name="Text 26"/>
          <p:cNvSpPr/>
          <p:nvPr/>
        </p:nvSpPr>
        <p:spPr>
          <a:xfrm>
            <a:off x="11064240" y="25877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29900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2999232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30266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06040" y="2990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34840" y="29809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review ulang kebijakan siswa dianggap absen saat mengikuti kompetisi atas inisi…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064240" y="2999232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FF8EF"/>
          </a:solidFill>
          <a:ln/>
        </p:spPr>
      </p:sp>
      <p:sp>
        <p:nvSpPr>
          <p:cNvPr id="35" name="Text 33"/>
          <p:cNvSpPr/>
          <p:nvPr/>
        </p:nvSpPr>
        <p:spPr>
          <a:xfrm>
            <a:off x="11064240" y="3026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355848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3429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71600" y="3438144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7F6EF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600" y="346557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606040" y="34290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Umum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434840" y="34198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lorong yang damai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13/08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71600" y="3877056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FDECEB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39044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Yayasan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06040" y="38679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34840" y="3858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Pelayanan Klinik dan Kualitas Konsumsi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4233672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66928" y="43068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371600" y="4315968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7F6EF"/>
          </a:solidFill>
          <a:ln/>
        </p:spPr>
      </p:sp>
      <p:sp>
        <p:nvSpPr>
          <p:cNvPr id="50" name="Text 48"/>
          <p:cNvSpPr/>
          <p:nvPr/>
        </p:nvSpPr>
        <p:spPr>
          <a:xfrm>
            <a:off x="1371600" y="43434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06040" y="43068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Guru / Staf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43484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kebersihan sekolah sangat dijaga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66928" y="47457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371600" y="4754880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55" name="Text 53"/>
          <p:cNvSpPr/>
          <p:nvPr/>
        </p:nvSpPr>
        <p:spPr>
          <a:xfrm>
            <a:off x="1371600" y="47823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06040" y="4745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434840" y="4736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air dalam kamar mandi perempuan depan ruang 219 KTB sangat kecil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02920" y="5111496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66928" y="5184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14/08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371600" y="5193792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7F6EF"/>
          </a:solidFill>
          <a:ln/>
        </p:spPr>
      </p:sp>
      <p:sp>
        <p:nvSpPr>
          <p:cNvPr id="61" name="Text 59"/>
          <p:cNvSpPr/>
          <p:nvPr/>
        </p:nvSpPr>
        <p:spPr>
          <a:xfrm>
            <a:off x="1371600" y="522122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606040" y="5184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Umum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434840" y="51755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untuk Mengakses Slip Gaji yang Bagus!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66928" y="5623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15/08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371600" y="5632704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66" name="Text 64"/>
          <p:cNvSpPr/>
          <p:nvPr/>
        </p:nvSpPr>
        <p:spPr>
          <a:xfrm>
            <a:off x="1371600" y="56601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606040" y="5623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434840" y="56144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Misconduct / SP 1 Karena hal yang sepele.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0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· lanjutan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4 dari 4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06040" y="13716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34840" y="137160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POKOK LAPORAN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73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682496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FDECE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7099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Yayasan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673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Kehidupan Asrama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34840" y="1664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Belajar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122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121408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214884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21122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Kesiswaan &amp; Kedisiplinan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3484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 Waktu Belajar Malam bagi Siswa Kelas 11 IBDP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478024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551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2560320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FDECEB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25877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Yayasan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25511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Lain-lain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2542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problems resulting even more problems, please, help...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29900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2999232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0266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2990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Kesiswaan &amp; Kedisiplinan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34840" y="29809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 dan Kesopanan dalam Kompetisi Antar House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355848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429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71600" y="3438144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346557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06040" y="34290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34840" y="34198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Hiburan Pribadi di Asrama Melalui Video Game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71600" y="3877056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39044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06040" y="38679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&amp; Fasilitas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3858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dan wifi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4233672"/>
            <a:ext cx="11155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43068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17/08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71600" y="4315968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EEEBFC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43434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0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06040" y="43068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Kesiswaan &amp; Kedisiplinan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34840" y="42976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 Malam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1064240" y="4315968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FFF8EF"/>
          </a:solidFill>
          <a:ln/>
        </p:spPr>
      </p:sp>
      <p:sp>
        <p:nvSpPr>
          <p:cNvPr id="48" name="Text 46"/>
          <p:cNvSpPr/>
          <p:nvPr/>
        </p:nvSpPr>
        <p:spPr>
          <a:xfrm>
            <a:off x="11064240" y="4343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A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47457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371600" y="4754880"/>
            <a:ext cx="1115568" cy="246888"/>
          </a:xfrm>
          <a:prstGeom prst="roundRect">
            <a:avLst>
              <a:gd name="adj" fmla="val 18519"/>
            </a:avLst>
          </a:prstGeom>
          <a:solidFill>
            <a:srgbClr val="FDECEB"/>
          </a:solidFill>
          <a:ln/>
        </p:spPr>
      </p:sp>
      <p:sp>
        <p:nvSpPr>
          <p:cNvPr id="51" name="Text 49"/>
          <p:cNvSpPr/>
          <p:nvPr/>
        </p:nvSpPr>
        <p:spPr>
          <a:xfrm>
            <a:off x="1371600" y="47823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Yayasan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606040" y="4745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Kehidupan Asrama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434840" y="4736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Mengenai Sikap dan Pelaksanaan Pembinaan oleh Mentor pada 15 Agustus 2026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66928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AGKB 360°  ·  Laporan Kanal Feedback  ·  19 Juni – 18 Agustus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698480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penutup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214884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9A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dua bulan, 48 laporan masuk dari orang-orang yang sebelumnya tidak punya tempat untuk bicara. Isinya tertata, spesifik, dan sebagian besar disertai usulan perbaikan.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9A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menentukan apakah kanal ini bertahan bukan jumlah laporan berikutnya, melainkan apakah laporan hari ini dijawab. Satu apresiasi dalam periode ini datang justru karena masukan lama pernah dikerjakan — itulah bukti bahwa lingkaran umpan balik yang ditutup akan mengundang laporan berikutnya.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4846320"/>
            <a:ext cx="2011680" cy="45720"/>
          </a:xfrm>
          <a:prstGeom prst="rect">
            <a:avLst/>
          </a:prstGeom>
          <a:solidFill>
            <a:srgbClr val="FF910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5166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dari basis data AGKB 360° · Ditarik 18 Agustus 2026 · 48 tiket, tanpa data uji coba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pelapor anonim tidak dibuka dalam laporan ini. Nama pihak yang diadukan sengaja tidak dicantumkan; rinciannya ada pada tiket masing-masing.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Temuan Kanal Feedback</dc:title>
  <dc:subject>PptxGenJS Presentation</dc:subject>
  <dc:creator>AGKB 360°</dc:creator>
  <cp:lastModifiedBy>AGKB 360°</cp:lastModifiedBy>
  <cp:revision>1</cp:revision>
  <dcterms:created xsi:type="dcterms:W3CDTF">2026-08-18T06:48:32Z</dcterms:created>
  <dcterms:modified xsi:type="dcterms:W3CDTF">2026-08-18T06:48:32Z</dcterms:modified>
</cp:coreProperties>
</file>